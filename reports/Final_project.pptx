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57" r:id="rId4"/>
    <p:sldId id="260" r:id="rId5"/>
    <p:sldId id="262" r:id="rId6"/>
    <p:sldId id="263" r:id="rId7"/>
    <p:sldId id="264" r:id="rId8"/>
    <p:sldId id="265" r:id="rId9"/>
    <p:sldId id="266" r:id="rId10"/>
    <p:sldId id="258" r:id="rId11"/>
    <p:sldId id="261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8776"/>
  </p:normalViewPr>
  <p:slideViewPr>
    <p:cSldViewPr snapToGrid="0">
      <p:cViewPr varScale="1">
        <p:scale>
          <a:sx n="99" d="100"/>
          <a:sy n="99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03744-44BE-2546-B760-EFED376A0A97}" type="datetimeFigureOut">
              <a:rPr lang="en-US" smtClean="0"/>
              <a:t>12/4/23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33419-D5C9-FE43-A279-C2FC8EE8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2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Triangular lattice has more neighbors -&gt; added complexity and greater critical temperature</a:t>
            </a:r>
          </a:p>
          <a:p>
            <a:endParaRPr lang="en-US" dirty="0"/>
          </a:p>
          <a:p>
            <a:r>
              <a:rPr lang="en-US" dirty="0"/>
              <a:t>For scaling, use binder cumulant which is function of average magnetization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33419-D5C9-FE43-A279-C2FC8EE883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52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Allows for efficient survey of all possible configurations that is also consistent with equilibrium statistical mechanics.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33419-D5C9-FE43-A279-C2FC8EE883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28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Weight: model can prioritize features that have a bigger </a:t>
            </a:r>
            <a:r>
              <a:rPr lang="en-US" dirty="0" err="1"/>
              <a:t>contribtution</a:t>
            </a:r>
            <a:r>
              <a:rPr lang="en-US" dirty="0"/>
              <a:t> towards learning</a:t>
            </a:r>
          </a:p>
          <a:p>
            <a:r>
              <a:rPr lang="en-US" dirty="0"/>
              <a:t>Summation with bias to activation function that introduces </a:t>
            </a:r>
            <a:r>
              <a:rPr lang="en-US" dirty="0" err="1"/>
              <a:t>nonlinearilty</a:t>
            </a:r>
            <a:r>
              <a:rPr lang="en-US" dirty="0"/>
              <a:t> to system and allows modeling of more complex relationships</a:t>
            </a:r>
          </a:p>
          <a:p>
            <a:r>
              <a:rPr lang="en-US" dirty="0"/>
              <a:t>Activation function -&gt; threshold for </a:t>
            </a:r>
            <a:r>
              <a:rPr lang="en-US" dirty="0" err="1"/>
              <a:t>synaps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33419-D5C9-FE43-A279-C2FC8EE883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72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Convolutional layer uses filters that extract specific feature to perform convolution operations on input matrix</a:t>
            </a:r>
          </a:p>
          <a:p>
            <a:r>
              <a:rPr lang="en-US" dirty="0"/>
              <a:t>Pooling layer reduces spatial size of input while retaining important information -&gt; Max pooling: max element of specific region of feature map</a:t>
            </a:r>
          </a:p>
          <a:p>
            <a:pPr marL="171450" indent="-171450">
              <a:buFont typeface="Wingdings" pitchFamily="2" charset="2"/>
              <a:buChar char="è"/>
            </a:pPr>
            <a:r>
              <a:rPr lang="en-US" dirty="0"/>
              <a:t>Feature extraction portion is concluded with application of activation function (Rectified Linear Unit)</a:t>
            </a:r>
          </a:p>
          <a:p>
            <a:pPr marL="171450" indent="-171450">
              <a:buFont typeface="Wingdings" pitchFamily="2" charset="2"/>
              <a:buChar char="è"/>
            </a:pPr>
            <a:endParaRPr lang="en-US" dirty="0"/>
          </a:p>
          <a:p>
            <a:pPr marL="171450" indent="-171450">
              <a:buFont typeface="Wingdings" pitchFamily="2" charset="2"/>
              <a:buChar char="è"/>
            </a:pPr>
            <a:r>
              <a:rPr lang="en-US" dirty="0"/>
              <a:t>Classification begins with fully connected layer </a:t>
            </a:r>
          </a:p>
          <a:p>
            <a:pPr marL="171450" indent="-171450">
              <a:buFont typeface="Wingdings" pitchFamily="2" charset="2"/>
              <a:buChar char="è"/>
            </a:pPr>
            <a:r>
              <a:rPr lang="en-US" dirty="0"/>
              <a:t>\</a:t>
            </a:r>
          </a:p>
          <a:p>
            <a:pPr marL="171450" indent="-171450">
              <a:buFont typeface="Wingdings" pitchFamily="2" charset="2"/>
              <a:buChar char="è"/>
            </a:pPr>
            <a:r>
              <a:rPr lang="en-US" dirty="0"/>
              <a:t>Output -&gt; binary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33419-D5C9-FE43-A279-C2FC8EE883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27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increases as predicted probability varies from correct label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33419-D5C9-FE43-A279-C2FC8EE883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2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F0750-387F-0743-CC55-F3E4374AF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9E8FB-3704-CCDD-3B64-01B7D9BA5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DAECE-00CF-50E9-F27D-2043BFA3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B790C-6833-AB7F-3643-4ED66560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D443E-D3FF-360B-C382-94F17AE1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6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BAA8-37A2-A6DB-A5D6-3E256AD9D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702F2-3ACF-523D-208D-C54AE5216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32135-B75E-0B73-8A1C-764747C52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9A604-D374-1947-285B-64A575ABB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2D93-8125-662F-A757-1FADE9D7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1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FB29-0E71-5211-53E1-1BF9CE53C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BF7A3-D23C-788A-5A00-404753B94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35A65-A3F1-F38B-615B-2EB562F8A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5C5BF-9683-93E1-539B-DF2C4FD34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EA055-7DB2-85A2-83E9-6936F7D2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51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9CD4C-9405-A805-E7CB-0AE0E37A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1DF8-4E87-A6E1-B367-B4499B15F6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CA79E-B38B-7E33-CAF7-3DA45D0B8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116D3-B090-EBF8-A45C-2752C6E49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C83D6-911E-456B-D591-6979A084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B39AA-CC7C-E442-9E8D-2DF70BBBB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50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26F46-8DC0-A5B3-E90A-09D497271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A6176-3EE3-9127-0B35-B6F0924CF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EE128-0A3A-3DBB-DDD4-2CF8B4CAA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7FBC51-7001-0E73-737E-7305CF619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F226AA-08F1-A3E2-C606-D8E879E43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B032F4-C3B0-265C-1BAD-D4EF6B07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4CE6F-4AA2-A1A5-D395-EA0E4DFD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C36D4-01E8-5894-8F34-E67FFF25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3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54B0-F466-5C5A-AC97-6E80B7B4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1538E-08FC-422F-93BD-F826039AA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F8DC6-6F79-AAEA-1A2F-54E00F25F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00796-3FB4-1144-0796-A784ACA5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A0631-AAD6-EAA8-52BD-42416DDFC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B6D69-6B68-0E45-E19E-742E2CBFF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33347-18E8-9DA9-A0A9-11201678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33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B058-E1C8-829D-567A-9AB892707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0F642-92A0-113F-9A3F-B4488EA09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F895F-18DD-B96D-192B-BD1CEDD32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9C561-AAD6-8445-4072-3153FC6B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D6EA9-4355-C9D4-8C2B-86EFB869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68128-78B2-7882-193B-8B20C430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09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CA481-11DE-14C1-164D-AA8FE2CCD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123000-6A85-FB4D-FE5E-889190538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DEA3F-333D-EC25-438E-494584C12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6EA96-EEB1-201C-26F4-1E666ABDB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987BC-4E93-C59D-6663-DFB60A72F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0F99E-E1F8-89DA-22EF-F1FF22BD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3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F7069-9966-7C5E-83C7-D8BDFD8A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39D30-60D4-B4B4-4814-D111FE5CA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E78A-E78E-09F2-D72C-884A41FD5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03012-0BD5-9BA9-BC89-C57D0285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6BD48-686E-28A2-1D1C-C12E20C9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9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93750-A44C-18FB-CDAD-37021818B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B3078-C002-79FE-314F-370601BEB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0CD57-B0D0-B54F-BD26-5AD7F21D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706B5-E77D-E55B-0030-88B9095BE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457AF-1EE4-4014-AA3F-C64077DB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49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CC587-C209-009E-066A-2EB24F57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16342-2B97-4CF2-94D4-12E27ABCB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58E8A-3069-83DE-BE15-8D739637F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E0915-DD7F-CD49-941B-FED3395A6D63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85DE1-E957-CE7F-B340-C1537EB90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56A17-3E74-62C6-69E1-9E6D5D012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AA3B8-A974-3D43-9E1D-747F69F1E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53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FAE7-73AD-BEFE-6DBF-9762079E93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Convolutional Neural Network applied to 2D </a:t>
            </a:r>
            <a:r>
              <a:rPr lang="en-US" dirty="0" err="1"/>
              <a:t>Ising</a:t>
            </a:r>
            <a:r>
              <a:rPr lang="en-US" dirty="0"/>
              <a:t> Model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E8272-6684-49F3-0515-23D1B10912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Mahlet Molla</a:t>
            </a:r>
          </a:p>
          <a:p>
            <a:r>
              <a:rPr lang="en-US" dirty="0"/>
              <a:t>PHYS 514 Project</a:t>
            </a:r>
          </a:p>
          <a:p>
            <a:r>
              <a:rPr lang="en-US" dirty="0"/>
              <a:t>Dec. 6, 2023</a:t>
            </a:r>
          </a:p>
        </p:txBody>
      </p:sp>
    </p:spTree>
    <p:extLst>
      <p:ext uri="{BB962C8B-B14F-4D97-AF65-F5344CB8AC3E}">
        <p14:creationId xmlns:p14="http://schemas.microsoft.com/office/powerpoint/2010/main" val="2244997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6B27-6FE6-CDD4-46EE-846C7778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</a:t>
            </a:r>
            <a:r>
              <a:rPr lang="en-US" dirty="0" err="1"/>
              <a:t>Ising</a:t>
            </a:r>
            <a:r>
              <a:rPr lang="en-US" dirty="0"/>
              <a:t>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DFD1C7-0B19-C5E9-2E93-BA578E2634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5999" y="2265877"/>
                <a:ext cx="5432129" cy="317109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+mj-lt"/>
                  </a:rPr>
                  <a:t>A lattice where each site has a spin (𝜎</a:t>
                </a:r>
                <a:r>
                  <a:rPr lang="en-US" i="1" baseline="-25000" dirty="0" err="1">
                    <a:latin typeface="+mj-lt"/>
                  </a:rPr>
                  <a:t>i</a:t>
                </a:r>
                <a:r>
                  <a:rPr lang="en-US" dirty="0">
                    <a:latin typeface="+mj-lt"/>
                  </a:rPr>
                  <a:t>) which is either spin up (+1) or spin down (-1)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j-lt"/>
                </a:endParaRPr>
              </a:p>
              <a:p>
                <a:r>
                  <a:rPr lang="en-US" dirty="0">
                    <a:latin typeface="+mj-lt"/>
                  </a:rPr>
                  <a:t>Ferromagnetic state is the ordered and paramagnetic state is disordered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DFD1C7-0B19-C5E9-2E93-BA578E2634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5999" y="2265877"/>
                <a:ext cx="5432129" cy="3171096"/>
              </a:xfrm>
              <a:blipFill>
                <a:blip r:embed="rId2"/>
                <a:stretch>
                  <a:fillRect l="-2103" t="-11155" r="-3037" b="-17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F2DDB06-3826-32B2-D2FF-C2B6B9E1B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605" y="1759119"/>
            <a:ext cx="3214816" cy="22962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2D0653-6FD5-15AE-BC3A-C76E8096E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094" y="4150618"/>
            <a:ext cx="2287029" cy="240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2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graph&#10;&#10;Description automatically generated">
            <a:extLst>
              <a:ext uri="{FF2B5EF4-FFF2-40B4-BE49-F238E27FC236}">
                <a16:creationId xmlns:a16="http://schemas.microsoft.com/office/drawing/2014/main" id="{60543D19-B387-4670-0798-C17B2898C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152" y="1930228"/>
            <a:ext cx="5842000" cy="4381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E118CF4-389C-6C30-B31B-FAFD1AC1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Magnetization vs Temp.</a:t>
            </a:r>
          </a:p>
        </p:txBody>
      </p:sp>
      <p:pic>
        <p:nvPicPr>
          <p:cNvPr id="10" name="Picture 9" descr="A graph of a graph&#10;&#10;Description automatically generated">
            <a:extLst>
              <a:ext uri="{FF2B5EF4-FFF2-40B4-BE49-F238E27FC236}">
                <a16:creationId xmlns:a16="http://schemas.microsoft.com/office/drawing/2014/main" id="{8D3E8668-C1CD-EFA3-A195-3E5743377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1930228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01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8803-A3F9-37CB-EF6E-33718AD8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Chain Monte Carlo (MCMC)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8FD3D-EBB4-259F-5B03-DF30CCF7B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Initialize lattice with each site on lattice is randomly to be chosen as spin up or spin down. On step </a:t>
            </a:r>
            <a:r>
              <a:rPr lang="en-US" i="1" dirty="0">
                <a:latin typeface="+mj-lt"/>
              </a:rPr>
              <a:t>k</a:t>
            </a:r>
            <a:r>
              <a:rPr lang="en-US" dirty="0">
                <a:latin typeface="+mj-lt"/>
              </a:rPr>
              <a:t>, pick a random site to consider flipping its spin from 𝜎</a:t>
            </a:r>
            <a:r>
              <a:rPr lang="en-US" i="1" baseline="-25000" dirty="0">
                <a:latin typeface="+mj-lt"/>
              </a:rPr>
              <a:t>i</a:t>
            </a:r>
            <a:r>
              <a:rPr lang="en-US" i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to -𝜎</a:t>
            </a:r>
            <a:r>
              <a:rPr lang="en-US" i="1" baseline="-25000" dirty="0" err="1">
                <a:latin typeface="+mj-lt"/>
              </a:rPr>
              <a:t>i</a:t>
            </a:r>
            <a:endParaRPr lang="en-US" i="1" baseline="-25000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To determine if flipping spin is energetically favorable, calculate ΔE between old and new configuration 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>
                <a:latin typeface="+mj-lt"/>
              </a:rPr>
              <a:t>ΔE ≤ 0 ⇨ Flip spin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>
                <a:latin typeface="+mj-lt"/>
              </a:rPr>
              <a:t>ΔE &gt; 0 ⇨ Flip spin if it follows exp(-β ΔE), otherwise reject spin flip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Move on to step </a:t>
            </a:r>
            <a:r>
              <a:rPr lang="en-US" i="1" dirty="0">
                <a:latin typeface="+mj-lt"/>
              </a:rPr>
              <a:t>k+1</a:t>
            </a:r>
            <a:r>
              <a:rPr lang="en-US" dirty="0">
                <a:latin typeface="+mj-lt"/>
              </a:rPr>
              <a:t> and repeat for all steps and range of temperatures. </a:t>
            </a:r>
          </a:p>
          <a:p>
            <a:pPr marL="971550" lvl="1" indent="-514350">
              <a:buFont typeface="+mj-lt"/>
              <a:buAutoNum type="romanUcPeriod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8608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E70B-4DDD-8439-1024-03DD530F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pic>
        <p:nvPicPr>
          <p:cNvPr id="1026" name="Picture 2" descr="Spotfire | Neural Networks Explained: A Look at Functions Applications">
            <a:extLst>
              <a:ext uri="{FF2B5EF4-FFF2-40B4-BE49-F238E27FC236}">
                <a16:creationId xmlns:a16="http://schemas.microsoft.com/office/drawing/2014/main" id="{1F654166-A7F4-72AA-3F78-4E99FB9DB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9" y="1283643"/>
            <a:ext cx="5721401" cy="289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Essential Guide to Neural Network Architectures">
            <a:extLst>
              <a:ext uri="{FF2B5EF4-FFF2-40B4-BE49-F238E27FC236}">
                <a16:creationId xmlns:a16="http://schemas.microsoft.com/office/drawing/2014/main" id="{08C6C85F-1127-3762-B08F-054D3A3189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93" b="17223"/>
          <a:stretch/>
        </p:blipFill>
        <p:spPr bwMode="auto">
          <a:xfrm>
            <a:off x="3587442" y="4479652"/>
            <a:ext cx="5197420" cy="218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12BBBC-0942-AABC-91CA-1BC775B5E528}"/>
              </a:ext>
            </a:extLst>
          </p:cNvPr>
          <p:cNvSpPr/>
          <p:nvPr/>
        </p:nvSpPr>
        <p:spPr>
          <a:xfrm>
            <a:off x="3850783" y="4576243"/>
            <a:ext cx="231820" cy="19962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659D4E-F158-A900-CF5C-23BB509F0EF7}"/>
              </a:ext>
            </a:extLst>
          </p:cNvPr>
          <p:cNvSpPr/>
          <p:nvPr/>
        </p:nvSpPr>
        <p:spPr>
          <a:xfrm>
            <a:off x="4250028" y="4576243"/>
            <a:ext cx="3420018" cy="20928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DDA42F-AA64-B9C5-EE17-8F290462B326}"/>
              </a:ext>
            </a:extLst>
          </p:cNvPr>
          <p:cNvSpPr/>
          <p:nvPr/>
        </p:nvSpPr>
        <p:spPr>
          <a:xfrm>
            <a:off x="7941973" y="5099073"/>
            <a:ext cx="570962" cy="6697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E70B-4DDD-8439-1024-03DD530F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(CNN)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42C606-73E0-9B92-F761-B0B1AA743E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79" t="9357" r="2500" b="5081"/>
          <a:stretch/>
        </p:blipFill>
        <p:spPr>
          <a:xfrm>
            <a:off x="242552" y="2189408"/>
            <a:ext cx="11706896" cy="347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989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2C324-EB71-C293-E43D-DFA7732FC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Cross-Entropy </a:t>
            </a:r>
            <a:r>
              <a:rPr lang="en-US" dirty="0"/>
              <a:t>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C30D580-55C1-859B-BAA1-440933D41A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19730" y="1825625"/>
                <a:ext cx="6434070" cy="4351338"/>
              </a:xfrm>
            </p:spPr>
            <p:txBody>
              <a:bodyPr/>
              <a:lstStyle/>
              <a:p>
                <a:r>
                  <a:rPr lang="en-US" dirty="0">
                    <a:latin typeface="+mj-lt"/>
                  </a:rPr>
                  <a:t>Measures the performance of model in predicting the true probability distribution where p(x) is the true probability distribution and q(x) is the probability distribution given by the model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𝑐𝑙𝑎𝑠𝑠𝑒𝑠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dirty="0">
                  <a:latin typeface="+mj-lt"/>
                </a:endParaRPr>
              </a:p>
              <a:p>
                <a:pPr marL="457200" lvl="1" indent="0"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C30D580-55C1-859B-BAA1-440933D41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19730" y="1825625"/>
                <a:ext cx="6434070" cy="4351338"/>
              </a:xfrm>
              <a:blipFill>
                <a:blip r:embed="rId3"/>
                <a:stretch>
                  <a:fillRect l="-1772" t="-2326" r="-2953" b="-6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Stochastic Gradient Descent | Great Learning">
            <a:extLst>
              <a:ext uri="{FF2B5EF4-FFF2-40B4-BE49-F238E27FC236}">
                <a16:creationId xmlns:a16="http://schemas.microsoft.com/office/drawing/2014/main" id="{8F3A5086-AAA1-F339-4049-394B928F2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305" y="1489909"/>
            <a:ext cx="2913934" cy="193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98B1C9A-8BAB-8E31-B3D5-2650A4D76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94964"/>
            <a:ext cx="3918486" cy="279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64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7D34-B922-E972-2DE8-2BABD685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 and Optimization algorithm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B526C4-A8AE-5162-46E0-D2B6DBA4C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373" y="3429000"/>
            <a:ext cx="10278278" cy="21083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2A5C73-8EF0-F644-3B52-B6B84091EE7A}"/>
              </a:ext>
            </a:extLst>
          </p:cNvPr>
          <p:cNvSpPr txBox="1"/>
          <p:nvPr/>
        </p:nvSpPr>
        <p:spPr>
          <a:xfrm>
            <a:off x="1416677" y="2268459"/>
            <a:ext cx="88349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Learning rate: step-size at each iteration of the optimization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1582998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71347-C0AE-0112-8ABC-8AF06929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26963-DE71-B396-2EFE-33489FD57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Convolutional Neural Network can correctly predict phase of triangular lattice configuration by learning on a square lattice configuration</a:t>
            </a:r>
          </a:p>
          <a:p>
            <a:r>
              <a:rPr lang="en-US" dirty="0">
                <a:latin typeface="+mj-lt"/>
              </a:rPr>
              <a:t>Learning rate and optimization algorithm affect performance of model prediction</a:t>
            </a:r>
          </a:p>
          <a:p>
            <a:pPr lvl="1"/>
            <a:r>
              <a:rPr lang="en-US" dirty="0">
                <a:latin typeface="+mj-lt"/>
              </a:rPr>
              <a:t>SGD has greater learning-rate dependence than Adams optimization</a:t>
            </a:r>
          </a:p>
          <a:p>
            <a:r>
              <a:rPr lang="en-US" dirty="0">
                <a:latin typeface="+mj-lt"/>
              </a:rPr>
              <a:t>Future steps: test on more complex configurations, modify the CNN architecture, alter hyperparameters </a:t>
            </a:r>
          </a:p>
        </p:txBody>
      </p:sp>
    </p:spTree>
    <p:extLst>
      <p:ext uri="{BB962C8B-B14F-4D97-AF65-F5344CB8AC3E}">
        <p14:creationId xmlns:p14="http://schemas.microsoft.com/office/powerpoint/2010/main" val="1558978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square with white squares&#10;&#10;Description automatically generated">
            <a:extLst>
              <a:ext uri="{FF2B5EF4-FFF2-40B4-BE49-F238E27FC236}">
                <a16:creationId xmlns:a16="http://schemas.microsoft.com/office/drawing/2014/main" id="{21B2F490-B868-A610-E1D4-F699D7A59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1" y="2240713"/>
            <a:ext cx="4231746" cy="3173809"/>
          </a:xfrm>
          <a:prstGeom prst="rect">
            <a:avLst/>
          </a:prstGeom>
        </p:spPr>
      </p:pic>
      <p:pic>
        <p:nvPicPr>
          <p:cNvPr id="5" name="Picture 4" descr="A black and white diagram&#10;&#10;Description automatically generated">
            <a:extLst>
              <a:ext uri="{FF2B5EF4-FFF2-40B4-BE49-F238E27FC236}">
                <a16:creationId xmlns:a16="http://schemas.microsoft.com/office/drawing/2014/main" id="{7524D9AD-CF62-5B36-F205-4F0C87254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756" y="2241554"/>
            <a:ext cx="4230624" cy="3172968"/>
          </a:xfrm>
          <a:prstGeom prst="rect">
            <a:avLst/>
          </a:prstGeom>
        </p:spPr>
      </p:pic>
      <p:pic>
        <p:nvPicPr>
          <p:cNvPr id="7" name="Picture 6" descr="A black and white pixelated diagram&#10;&#10;Description automatically generated">
            <a:extLst>
              <a:ext uri="{FF2B5EF4-FFF2-40B4-BE49-F238E27FC236}">
                <a16:creationId xmlns:a16="http://schemas.microsoft.com/office/drawing/2014/main" id="{9B52F588-723D-ECAE-9C46-6608B27A4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808" y="2240713"/>
            <a:ext cx="4230624" cy="3172968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2AF3508-A391-1ABF-2F9A-D30CF675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Lattice Configurations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6D451-B28D-5BFD-1963-FBF87E4A075F}"/>
              </a:ext>
            </a:extLst>
          </p:cNvPr>
          <p:cNvSpPr txBox="1"/>
          <p:nvPr/>
        </p:nvSpPr>
        <p:spPr>
          <a:xfrm>
            <a:off x="1500996" y="5595214"/>
            <a:ext cx="952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Ordered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5D5D7B-1B40-7E63-3C23-8B45932851A1}"/>
              </a:ext>
            </a:extLst>
          </p:cNvPr>
          <p:cNvSpPr txBox="1"/>
          <p:nvPr/>
        </p:nvSpPr>
        <p:spPr>
          <a:xfrm>
            <a:off x="5654372" y="5596844"/>
            <a:ext cx="952490" cy="36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Critical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E91F2-9522-D656-57C3-91D4D15E8813}"/>
              </a:ext>
            </a:extLst>
          </p:cNvPr>
          <p:cNvSpPr txBox="1"/>
          <p:nvPr/>
        </p:nvSpPr>
        <p:spPr>
          <a:xfrm>
            <a:off x="9470542" y="5620654"/>
            <a:ext cx="1220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Disordered</a:t>
            </a:r>
          </a:p>
        </p:txBody>
      </p:sp>
    </p:spTree>
    <p:extLst>
      <p:ext uri="{BB962C8B-B14F-4D97-AF65-F5344CB8AC3E}">
        <p14:creationId xmlns:p14="http://schemas.microsoft.com/office/powerpoint/2010/main" val="26190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dots and numbers&#10;&#10;Description automatically generated">
            <a:extLst>
              <a:ext uri="{FF2B5EF4-FFF2-40B4-BE49-F238E27FC236}">
                <a16:creationId xmlns:a16="http://schemas.microsoft.com/office/drawing/2014/main" id="{BE6E90E2-ED21-3451-F27B-00FF6BD7A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54" y="1298427"/>
            <a:ext cx="3652133" cy="2739100"/>
          </a:xfrm>
          <a:prstGeom prst="rect">
            <a:avLst/>
          </a:prstGeom>
        </p:spPr>
      </p:pic>
      <p:pic>
        <p:nvPicPr>
          <p:cNvPr id="7" name="Picture 6" descr="A graph with blue lines and numbers&#10;&#10;Description automatically generated">
            <a:extLst>
              <a:ext uri="{FF2B5EF4-FFF2-40B4-BE49-F238E27FC236}">
                <a16:creationId xmlns:a16="http://schemas.microsoft.com/office/drawing/2014/main" id="{632C77C6-1C49-34C0-4D36-BB65AFE57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752" y="1282030"/>
            <a:ext cx="3657599" cy="2743200"/>
          </a:xfrm>
          <a:prstGeom prst="rect">
            <a:avLst/>
          </a:prstGeom>
        </p:spPr>
      </p:pic>
      <p:pic>
        <p:nvPicPr>
          <p:cNvPr id="9" name="Picture 8" descr="A graph with blue lines&#10;&#10;Description automatically generated">
            <a:extLst>
              <a:ext uri="{FF2B5EF4-FFF2-40B4-BE49-F238E27FC236}">
                <a16:creationId xmlns:a16="http://schemas.microsoft.com/office/drawing/2014/main" id="{6FB62138-1385-6F9B-E8CF-F3407B526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354" y="4021130"/>
            <a:ext cx="3657599" cy="2743200"/>
          </a:xfrm>
          <a:prstGeom prst="rect">
            <a:avLst/>
          </a:prstGeom>
        </p:spPr>
      </p:pic>
      <p:pic>
        <p:nvPicPr>
          <p:cNvPr id="11" name="Picture 10" descr="A graph with a line&#10;&#10;Description automatically generated">
            <a:extLst>
              <a:ext uri="{FF2B5EF4-FFF2-40B4-BE49-F238E27FC236}">
                <a16:creationId xmlns:a16="http://schemas.microsoft.com/office/drawing/2014/main" id="{12339339-11C5-60F4-F320-5E3BDFCA8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752" y="4021130"/>
            <a:ext cx="3657599" cy="274320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C1AE8B52-7DB7-C8F7-67B8-AB4D1B7F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Finite-size Effects of MCMC</a:t>
            </a:r>
          </a:p>
        </p:txBody>
      </p:sp>
    </p:spTree>
    <p:extLst>
      <p:ext uri="{BB962C8B-B14F-4D97-AF65-F5344CB8AC3E}">
        <p14:creationId xmlns:p14="http://schemas.microsoft.com/office/powerpoint/2010/main" val="664333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3F5B-2708-DEDC-FEB8-4CAF564B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 and Optimization algorithm </a:t>
            </a:r>
          </a:p>
        </p:txBody>
      </p:sp>
      <p:pic>
        <p:nvPicPr>
          <p:cNvPr id="3" name="Picture 2" descr="A graph with blue dots and a line&#10;&#10;Description automatically generated">
            <a:extLst>
              <a:ext uri="{FF2B5EF4-FFF2-40B4-BE49-F238E27FC236}">
                <a16:creationId xmlns:a16="http://schemas.microsoft.com/office/drawing/2014/main" id="{E62F63DF-2D5B-19B6-F915-605C55479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218" y="1494976"/>
            <a:ext cx="6119021" cy="458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06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7D34-B922-E972-2DE8-2BABD685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 and Optimization algorithm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B526C4-A8AE-5162-46E0-D2B6DBA4C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22" y="2219983"/>
            <a:ext cx="9685513" cy="19867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844533-E5ED-711A-3230-FDC356D83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3" y="4298167"/>
            <a:ext cx="11623509" cy="188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68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</TotalTime>
  <Words>464</Words>
  <Application>Microsoft Macintosh PowerPoint</Application>
  <PresentationFormat>Widescreen</PresentationFormat>
  <Paragraphs>54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 Theme</vt:lpstr>
      <vt:lpstr>Convolutional Neural Network applied to 2D Ising Model </vt:lpstr>
      <vt:lpstr>2D Ising Model</vt:lpstr>
      <vt:lpstr>Average Magnetization vs Temp.</vt:lpstr>
      <vt:lpstr>Markov Chain Monte Carlo (MCMC)</vt:lpstr>
      <vt:lpstr>Neural Networks</vt:lpstr>
      <vt:lpstr>Convolutional Neural Networks (CNN)</vt:lpstr>
      <vt:lpstr>Cross-Entropy Loss</vt:lpstr>
      <vt:lpstr>Learning rate and Optimization algorithm </vt:lpstr>
      <vt:lpstr>Conclusion </vt:lpstr>
      <vt:lpstr>Square Lattice Configurations </vt:lpstr>
      <vt:lpstr>Finite-size Effects of MCMC</vt:lpstr>
      <vt:lpstr>Learning rate and Optimization algorithm </vt:lpstr>
      <vt:lpstr>Learning rate and Optimization algorithm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 applied to 2D Ising Model </dc:title>
  <dc:creator>Molla, Mahlet</dc:creator>
  <cp:lastModifiedBy>Molla, Mahlet</cp:lastModifiedBy>
  <cp:revision>3</cp:revision>
  <dcterms:created xsi:type="dcterms:W3CDTF">2023-12-04T21:14:19Z</dcterms:created>
  <dcterms:modified xsi:type="dcterms:W3CDTF">2023-12-06T02:16:01Z</dcterms:modified>
</cp:coreProperties>
</file>